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95de8f5c34f4b" /><Relationship Type="http://schemas.openxmlformats.org/officeDocument/2006/relationships/extended-properties" Target="/docProps/app.xml" Id="R49ad0e2cfd2142dd" /><Relationship Type="http://schemas.openxmlformats.org/officeDocument/2006/relationships/officeDocument" Target="/ppt/presentation.xml" Id="R65b322acf2bb42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14a72a7fc747c9"/>
  </p:sldMasterIdLst>
  <p:notesMasterIdLst>
    <p:notesMasterId xmlns:r="http://schemas.openxmlformats.org/officeDocument/2006/relationships" r:id="R9e6ef56e519a49ff"/>
  </p:notesMasterIdLst>
  <p:sldIdLst>
    <p:sldId xmlns:r="http://schemas.openxmlformats.org/officeDocument/2006/relationships" id="256" r:id="R4a9d5a6fa0ce4455"/>
    <p:sldId xmlns:r="http://schemas.openxmlformats.org/officeDocument/2006/relationships" id="257" r:id="R2634de12b7614137"/>
    <p:sldId xmlns:r="http://schemas.openxmlformats.org/officeDocument/2006/relationships" id="258" r:id="R88f237ef6f024c56"/>
    <p:sldId xmlns:r="http://schemas.openxmlformats.org/officeDocument/2006/relationships" id="259" r:id="R780d799c36a44a6a"/>
    <p:sldId xmlns:r="http://schemas.openxmlformats.org/officeDocument/2006/relationships" id="260" r:id="R0cd9bf05bd3944b5"/>
    <p:sldId xmlns:r="http://schemas.openxmlformats.org/officeDocument/2006/relationships" id="261" r:id="R433f76bc382d4d0f"/>
    <p:sldId xmlns:r="http://schemas.openxmlformats.org/officeDocument/2006/relationships" id="262" r:id="R2c7df5efa0f04b10"/>
    <p:sldId xmlns:r="http://schemas.openxmlformats.org/officeDocument/2006/relationships" id="263" r:id="R9049c05de9ab4c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104c1046004759" /><Relationship Type="http://schemas.openxmlformats.org/officeDocument/2006/relationships/slideMaster" Target="/ppt/slideMasters/slideMaster1.xml" Id="R9614a72a7fc747c9" /><Relationship Type="http://schemas.openxmlformats.org/officeDocument/2006/relationships/notesMaster" Target="/ppt/notesMasters/notesMaster1.xml" Id="R9e6ef56e519a49ff" /><Relationship Type="http://schemas.openxmlformats.org/officeDocument/2006/relationships/presProps" Target="/ppt/presProps.xml" Id="R75358243b20943ca" /><Relationship Type="http://schemas.openxmlformats.org/officeDocument/2006/relationships/tableStyles" Target="/ppt/tableStyles.xml" Id="Rd332dd6a0a414ba1" /><Relationship Type="http://schemas.openxmlformats.org/officeDocument/2006/relationships/slide" Target="/ppt/slides/slide1.xml" Id="R4a9d5a6fa0ce4455" /><Relationship Type="http://schemas.openxmlformats.org/officeDocument/2006/relationships/slide" Target="/ppt/slides/slide2.xml" Id="R2634de12b7614137" /><Relationship Type="http://schemas.openxmlformats.org/officeDocument/2006/relationships/slide" Target="/ppt/slides/slide3.xml" Id="R88f237ef6f024c56" /><Relationship Type="http://schemas.openxmlformats.org/officeDocument/2006/relationships/slide" Target="/ppt/slides/slide4.xml" Id="R780d799c36a44a6a" /><Relationship Type="http://schemas.openxmlformats.org/officeDocument/2006/relationships/slide" Target="/ppt/slides/slide5.xml" Id="R0cd9bf05bd3944b5" /><Relationship Type="http://schemas.openxmlformats.org/officeDocument/2006/relationships/slide" Target="/ppt/slides/slide6.xml" Id="R433f76bc382d4d0f" /><Relationship Type="http://schemas.openxmlformats.org/officeDocument/2006/relationships/slide" Target="/ppt/slides/slide7.xml" Id="R2c7df5efa0f04b10" /><Relationship Type="http://schemas.openxmlformats.org/officeDocument/2006/relationships/slide" Target="/ppt/slides/slide8.xml" Id="R9049c05de9ab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a787533e741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9ceb75ac7548c8" /><Relationship Type="http://schemas.openxmlformats.org/officeDocument/2006/relationships/notesMaster" Target="/ppt/notesMasters/notesMaster1.xml" Id="R431dfe6d4e874d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c9d78adb284dd9" /><Relationship Type="http://schemas.openxmlformats.org/officeDocument/2006/relationships/notesMaster" Target="/ppt/notesMasters/notesMaster1.xml" Id="R7d949908005a48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2b05e7a7ae4772" /><Relationship Type="http://schemas.openxmlformats.org/officeDocument/2006/relationships/notesMaster" Target="/ppt/notesMasters/notesMaster1.xml" Id="R8201732e258945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f9bc707d6a4071" /><Relationship Type="http://schemas.openxmlformats.org/officeDocument/2006/relationships/notesMaster" Target="/ppt/notesMasters/notesMaster1.xml" Id="R0c61615b8b3d47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61d92599ca4997" /><Relationship Type="http://schemas.openxmlformats.org/officeDocument/2006/relationships/notesMaster" Target="/ppt/notesMasters/notesMaster1.xml" Id="R35be814aafc741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3cd604bbed48e8" /><Relationship Type="http://schemas.openxmlformats.org/officeDocument/2006/relationships/notesMaster" Target="/ppt/notesMasters/notesMaster1.xml" Id="R6f8ce8a6a21542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4752dfc524486b" /><Relationship Type="http://schemas.openxmlformats.org/officeDocument/2006/relationships/notesMaster" Target="/ppt/notesMasters/notesMaster1.xml" Id="R99e288ec9f4241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7abe97877e430e" /><Relationship Type="http://schemas.openxmlformats.org/officeDocument/2006/relationships/notesMaster" Target="/ppt/notesMasters/notesMaster1.xml" Id="R9d1c27ea1b9549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1630f2a044d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0ccda039a74b0d" /><Relationship Type="http://schemas.openxmlformats.org/officeDocument/2006/relationships/slideLayout" Target="/ppt/slideLayouts/slideLayout1.xml" Id="Ra8ecb9af8f1b49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cb9af8f1b49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2fa1d01d14fa1" /><Relationship Type="http://schemas.openxmlformats.org/officeDocument/2006/relationships/notesSlide" Target="/ppt/notesSlides/notesSlide1.xml" Id="R6a0faf7e0b8c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19760a5b14245" /><Relationship Type="http://schemas.openxmlformats.org/officeDocument/2006/relationships/notesSlide" Target="/ppt/notesSlides/notesSlide2.xml" Id="Rf6f6920398d847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5d31d830b44e4" /><Relationship Type="http://schemas.openxmlformats.org/officeDocument/2006/relationships/notesSlide" Target="/ppt/notesSlides/notesSlide3.xml" Id="R9a434118dfaf48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7629ec0fa4038" /><Relationship Type="http://schemas.openxmlformats.org/officeDocument/2006/relationships/notesSlide" Target="/ppt/notesSlides/notesSlide4.xml" Id="Ra294668ff52d40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35b978e094008" /><Relationship Type="http://schemas.openxmlformats.org/officeDocument/2006/relationships/notesSlide" Target="/ppt/notesSlides/notesSlide5.xml" Id="R9055bc9aa32b44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fe35b63464453" /><Relationship Type="http://schemas.openxmlformats.org/officeDocument/2006/relationships/notesSlide" Target="/ppt/notesSlides/notesSlide6.xml" Id="R4c28c792f1b34d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2cb5da0f749be" /><Relationship Type="http://schemas.openxmlformats.org/officeDocument/2006/relationships/notesSlide" Target="/ppt/notesSlides/notesSlide7.xml" Id="Ra7c7f089f7b745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80deac4594e5a" /><Relationship Type="http://schemas.openxmlformats.org/officeDocument/2006/relationships/notesSlide" Target="/ppt/notesSlides/notesSlide8.xml" Id="R25b11cd18269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ail">
            <a:extLst xmlns:a="http://schemas.openxmlformats.org/drawingml/2006/main">
              <a:ext uri="{FF2B5EF4-FFF2-40B4-BE49-F238E27FC236}">
                <a16:creationId xmlns:a16="http://schemas.microsoft.com/office/drawing/2014/main" id="{0C14A169-8E1F-40FC-8B7F-9722CB69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D7FBA2A-E26B-43E4-8738-F6A0B9F1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71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27AFE16-3277-437F-8926-9E7F9A26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2026.06.13 - 2026.06.26 / 双周汇报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DBF2709-0390-4D27-B487-D3A81FFF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工作票智能识别项目
阶段周报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949C97-372D-469A-8895-7FD8D880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334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本期重点：补齐工程化能力与可汇报闭环；下期重点：启动工作票识别论文写作。</a:t>
            </a:r>
          </a:p>
        </p:txBody>
      </p:sp>
      <p:sp>
        <p:nvSpPr>
          <p:cNvPr id="6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F22D5193-4E87-4DCD-AFAC-4CC3D31C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4953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说明：OCR + LLM 核心识别链路属于前期任务，本期只作为系统基础，不计入本阶段工作量。</a:t>
            </a:r>
          </a:p>
        </p:txBody>
      </p:sp>
      <p:sp>
        <p:nvSpPr>
          <p:cNvPr id="7" name="cover-mini-1">
            <a:extLst xmlns:a="http://schemas.openxmlformats.org/drawingml/2006/main">
              <a:ext uri="{FF2B5EF4-FFF2-40B4-BE49-F238E27FC236}">
                <a16:creationId xmlns:a16="http://schemas.microsoft.com/office/drawing/2014/main" id="{061E4C65-3C04-4C23-AF01-4B625BE9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cover-mini-1-t">
            <a:extLst xmlns:a="http://schemas.openxmlformats.org/drawingml/2006/main">
              <a:ext uri="{FF2B5EF4-FFF2-40B4-BE49-F238E27FC236}">
                <a16:creationId xmlns:a16="http://schemas.microsoft.com/office/drawing/2014/main" id="{E92C8548-08EA-4671-B0BB-71A3EC8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160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系统补充</a:t>
            </a:r>
          </a:p>
        </p:txBody>
      </p:sp>
      <p:sp>
        <p:nvSpPr>
          <p:cNvPr id="9" name="cover-mini-2">
            <a:extLst xmlns:a="http://schemas.openxmlformats.org/drawingml/2006/main">
              <a:ext uri="{FF2B5EF4-FFF2-40B4-BE49-F238E27FC236}">
                <a16:creationId xmlns:a16="http://schemas.microsoft.com/office/drawing/2014/main" id="{BD6D2CA5-15DA-4DF4-B1B8-1E8D4BF1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29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cover-mini-2-t">
            <a:extLst xmlns:a="http://schemas.openxmlformats.org/drawingml/2006/main">
              <a:ext uri="{FF2B5EF4-FFF2-40B4-BE49-F238E27FC236}">
                <a16:creationId xmlns:a16="http://schemas.microsoft.com/office/drawing/2014/main" id="{8DF2B00B-2543-4516-8ACB-0468185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160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论文启动</a:t>
            </a:r>
          </a:p>
        </p:txBody>
      </p:sp>
      <p:sp>
        <p:nvSpPr>
          <p:cNvPr id="11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1B4CAD80-AB33-4364-8728-EBDF185B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工作票识别项目阶段周报</a:t>
            </a:r>
          </a:p>
        </p:txBody>
      </p:sp>
      <p:sp>
        <p:nvSpPr>
          <p:cNvPr id="12" name="footer-no-1">
            <a:extLst xmlns:a="http://schemas.openxmlformats.org/drawingml/2006/main">
              <a:ext uri="{FF2B5EF4-FFF2-40B4-BE49-F238E27FC236}">
                <a16:creationId xmlns:a16="http://schemas.microsoft.com/office/drawing/2014/main" id="{33ABA806-0180-4526-8CD6-79A9D294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657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">
            <a:extLst xmlns:a="http://schemas.openxmlformats.org/drawingml/2006/main">
              <a:ext uri="{FF2B5EF4-FFF2-40B4-BE49-F238E27FC236}">
                <a16:creationId xmlns:a16="http://schemas.microsoft.com/office/drawing/2014/main" id="{35FF687C-E814-41DE-83D2-10E3F3D8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42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本阶段任务边界</a:t>
            </a:r>
          </a:p>
        </p:txBody>
      </p:sp>
      <p:sp>
        <p:nvSpPr>
          <p:cNvPr id="2" name="s2-lead">
            <a:extLst xmlns:a="http://schemas.openxmlformats.org/drawingml/2006/main">
              <a:ext uri="{FF2B5EF4-FFF2-40B4-BE49-F238E27FC236}">
                <a16:creationId xmlns:a16="http://schemas.microsoft.com/office/drawing/2014/main" id="{2BFCFCDA-FD0B-4296-A288-BD91B512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把“识别功能已有”与“这两周新增”分开汇报，避免把前期 OCR + LLM 主链路重复计入。</a:t>
            </a:r>
          </a:p>
        </p:txBody>
      </p:sp>
      <p:sp>
        <p:nvSpPr>
          <p:cNvPr id="3" name="s2-left-panel">
            <a:extLst xmlns:a="http://schemas.openxmlformats.org/drawingml/2006/main">
              <a:ext uri="{FF2B5EF4-FFF2-40B4-BE49-F238E27FC236}">
                <a16:creationId xmlns:a16="http://schemas.microsoft.com/office/drawing/2014/main" id="{575B8E28-0985-4329-A2DD-CDA47291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2197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2-right-panel">
            <a:extLst xmlns:a="http://schemas.openxmlformats.org/drawingml/2006/main">
              <a:ext uri="{FF2B5EF4-FFF2-40B4-BE49-F238E27FC236}">
                <a16:creationId xmlns:a16="http://schemas.microsoft.com/office/drawing/2014/main" id="{41443B9E-EA53-4644-A56F-0D71063B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2197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2-left-h">
            <a:extLst xmlns:a="http://schemas.openxmlformats.org/drawingml/2006/main">
              <a:ext uri="{FF2B5EF4-FFF2-40B4-BE49-F238E27FC236}">
                <a16:creationId xmlns:a16="http://schemas.microsoft.com/office/drawing/2014/main" id="{A6570F37-DA17-472A-B684-7EE1DD03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前期基础能力</a:t>
            </a:r>
          </a:p>
        </p:txBody>
      </p:sp>
      <p:sp>
        <p:nvSpPr>
          <p:cNvPr id="6" name="s2-left-b">
            <a:extLst xmlns:a="http://schemas.openxmlformats.org/drawingml/2006/main">
              <a:ext uri="{FF2B5EF4-FFF2-40B4-BE49-F238E27FC236}">
                <a16:creationId xmlns:a16="http://schemas.microsoft.com/office/drawing/2014/main" id="{4B806F05-8707-42E1-8592-742E9FBB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381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• PPStructureV3 对工作票版面、表格、文字识别
• LLM 将 OCR 结果整理为固定 JSON 字段
• 图片/PDF 上传后的基础识别闭环
• 字段缺失时不编造、保留不确定字段思路</a:t>
            </a:r>
          </a:p>
        </p:txBody>
      </p:sp>
      <p:sp>
        <p:nvSpPr>
          <p:cNvPr id="7" name="s2-left-note">
            <a:extLst xmlns:a="http://schemas.openxmlformats.org/drawingml/2006/main">
              <a:ext uri="{FF2B5EF4-FFF2-40B4-BE49-F238E27FC236}">
                <a16:creationId xmlns:a16="http://schemas.microsoft.com/office/drawing/2014/main" id="{1DB9646D-03C6-4DA7-88AD-80D362F4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本期汇报中只作为项目基线呈现。</a:t>
            </a:r>
          </a:p>
        </p:txBody>
      </p:sp>
      <p:sp>
        <p:nvSpPr>
          <p:cNvPr id="8" name="s2-right-h">
            <a:extLst xmlns:a="http://schemas.openxmlformats.org/drawingml/2006/main">
              <a:ext uri="{FF2B5EF4-FFF2-40B4-BE49-F238E27FC236}">
                <a16:creationId xmlns:a16="http://schemas.microsoft.com/office/drawing/2014/main" id="{B6A7EA28-71E7-44B8-9441-1B1E0F1A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这两周完善补充</a:t>
            </a:r>
          </a:p>
        </p:txBody>
      </p:sp>
      <p:sp>
        <p:nvSpPr>
          <p:cNvPr id="9" name="s2-right-b">
            <a:extLst xmlns:a="http://schemas.openxmlformats.org/drawingml/2006/main">
              <a:ext uri="{FF2B5EF4-FFF2-40B4-BE49-F238E27FC236}">
                <a16:creationId xmlns:a16="http://schemas.microsoft.com/office/drawing/2014/main" id="{00DE8F78-129D-4179-98D8-AC9BC99A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4286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流式接口：边处理边输出步骤事件
• 运行监控：上传、OCR、首字、生成、总耗时
• 前端识别台：双模式、拖拽上传、结果复制
• 配置/启动/文档/调试脚本与输出目录规范</a:t>
            </a:r>
          </a:p>
        </p:txBody>
      </p:sp>
      <p:sp>
        <p:nvSpPr>
          <p:cNvPr id="10" name="s2-right-note">
            <a:extLst xmlns:a="http://schemas.openxmlformats.org/drawingml/2006/main">
              <a:ext uri="{FF2B5EF4-FFF2-40B4-BE49-F238E27FC236}">
                <a16:creationId xmlns:a16="http://schemas.microsoft.com/office/drawing/2014/main" id="{A15D1CEE-1C14-4E53-A547-ACC90176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本期成果更偏工程化、可观测和可展示。</a:t>
            </a:r>
          </a:p>
        </p:txBody>
      </p:sp>
      <p:sp>
        <p:nvSpPr>
          <p:cNvPr id="11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C489437B-ADA3-4A42-AC94-BCB02BC7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工作票识别项目阶段周报</a:t>
            </a:r>
          </a:p>
        </p:txBody>
      </p:sp>
      <p:sp>
        <p:nvSpPr>
          <p:cNvPr id="12" name="footer-no-2">
            <a:extLst xmlns:a="http://schemas.openxmlformats.org/drawingml/2006/main">
              <a:ext uri="{FF2B5EF4-FFF2-40B4-BE49-F238E27FC236}">
                <a16:creationId xmlns:a16="http://schemas.microsoft.com/office/drawing/2014/main" id="{00E11F1B-A455-4118-B1F5-9EEB9CDC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4869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">
            <a:extLst xmlns:a="http://schemas.openxmlformats.org/drawingml/2006/main">
              <a:ext uri="{FF2B5EF4-FFF2-40B4-BE49-F238E27FC236}">
                <a16:creationId xmlns:a16="http://schemas.microsoft.com/office/drawing/2014/main" id="{A3A53451-281C-4C01-BA82-01A2200C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本期完成：流式识别与运行可观测</a:t>
            </a:r>
          </a:p>
        </p:txBody>
      </p:sp>
      <p:sp>
        <p:nvSpPr>
          <p:cNvPr id="2" name="s3-lead">
            <a:extLst xmlns:a="http://schemas.openxmlformats.org/drawingml/2006/main">
              <a:ext uri="{FF2B5EF4-FFF2-40B4-BE49-F238E27FC236}">
                <a16:creationId xmlns:a16="http://schemas.microsoft.com/office/drawing/2014/main" id="{2418A792-706A-41F4-9D17-5DA0253F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981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新增的价值不是再做一次识别算法，而是让识别过程能被看到、被计时、被保存。</a:t>
            </a:r>
          </a:p>
        </p:txBody>
      </p:sp>
      <p:sp>
        <p:nvSpPr>
          <p:cNvPr id="3" name="s3-card-0">
            <a:extLst xmlns:a="http://schemas.openxmlformats.org/drawingml/2006/main">
              <a:ext uri="{FF2B5EF4-FFF2-40B4-BE49-F238E27FC236}">
                <a16:creationId xmlns:a16="http://schemas.microsoft.com/office/drawing/2014/main" id="{F6406748-6FA0-4E79-80A8-3419A5B8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s3-num-0">
            <a:extLst xmlns:a="http://schemas.openxmlformats.org/drawingml/2006/main">
              <a:ext uri="{FF2B5EF4-FFF2-40B4-BE49-F238E27FC236}">
                <a16:creationId xmlns:a16="http://schemas.microsoft.com/office/drawing/2014/main" id="{E664D06E-2273-4D31-B8A8-3F204AD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143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5" name="s3-label-0">
            <a:extLst xmlns:a="http://schemas.openxmlformats.org/drawingml/2006/main">
              <a:ext uri="{FF2B5EF4-FFF2-40B4-BE49-F238E27FC236}">
                <a16:creationId xmlns:a16="http://schemas.microsoft.com/office/drawing/2014/main" id="{D5966F2B-8789-423D-959C-5122678B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962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流式接口</a:t>
            </a:r>
          </a:p>
        </p:txBody>
      </p:sp>
      <p:sp>
        <p:nvSpPr>
          <p:cNvPr id="6" name="s3-body-0">
            <a:extLst xmlns:a="http://schemas.openxmlformats.org/drawingml/2006/main">
              <a:ext uri="{FF2B5EF4-FFF2-40B4-BE49-F238E27FC236}">
                <a16:creationId xmlns:a16="http://schemas.microsoft.com/office/drawing/2014/main" id="{7E549009-97E8-408B-B2CF-556E725B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96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结构化识别流式端点
图片直传流式端点</a:t>
            </a:r>
          </a:p>
        </p:txBody>
      </p:sp>
      <p:sp>
        <p:nvSpPr>
          <p:cNvPr id="7" name="s3-card-1">
            <a:extLst xmlns:a="http://schemas.openxmlformats.org/drawingml/2006/main">
              <a:ext uri="{FF2B5EF4-FFF2-40B4-BE49-F238E27FC236}">
                <a16:creationId xmlns:a16="http://schemas.microsoft.com/office/drawing/2014/main" id="{60E0280E-4E0A-4B14-9790-3C0FA312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383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s3-num-1">
            <a:extLst xmlns:a="http://schemas.openxmlformats.org/drawingml/2006/main">
              <a:ext uri="{FF2B5EF4-FFF2-40B4-BE49-F238E27FC236}">
                <a16:creationId xmlns:a16="http://schemas.microsoft.com/office/drawing/2014/main" id="{96236814-1653-48D8-91A0-7CDA4517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09800"/>
            <a:ext cx="1143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  <p:sp>
        <p:nvSpPr>
          <p:cNvPr id="9" name="s3-label-1">
            <a:extLst xmlns:a="http://schemas.openxmlformats.org/drawingml/2006/main">
              <a:ext uri="{FF2B5EF4-FFF2-40B4-BE49-F238E27FC236}">
                <a16:creationId xmlns:a16="http://schemas.microsoft.com/office/drawing/2014/main" id="{FE651D2A-7537-4D48-A3C0-E99C156A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90875"/>
            <a:ext cx="1962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耗时指标</a:t>
            </a:r>
          </a:p>
        </p:txBody>
      </p:sp>
      <p:sp>
        <p:nvSpPr>
          <p:cNvPr id="10" name="s3-body-1">
            <a:extLst xmlns:a="http://schemas.openxmlformats.org/drawingml/2006/main">
              <a:ext uri="{FF2B5EF4-FFF2-40B4-BE49-F238E27FC236}">
                <a16:creationId xmlns:a16="http://schemas.microsoft.com/office/drawing/2014/main" id="{133CC7BA-587C-4E34-8823-F4693097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00475"/>
            <a:ext cx="196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文件接收、OCR/编码
首字返回、生成、总耗时</a:t>
            </a:r>
          </a:p>
        </p:txBody>
      </p:sp>
      <p:sp>
        <p:nvSpPr>
          <p:cNvPr id="11" name="s3-card-2">
            <a:extLst xmlns:a="http://schemas.openxmlformats.org/drawingml/2006/main">
              <a:ext uri="{FF2B5EF4-FFF2-40B4-BE49-F238E27FC236}">
                <a16:creationId xmlns:a16="http://schemas.microsoft.com/office/drawing/2014/main" id="{7F80C1FD-1D60-4511-8A2C-CF15CBE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s3-num-2">
            <a:extLst xmlns:a="http://schemas.openxmlformats.org/drawingml/2006/main">
              <a:ext uri="{FF2B5EF4-FFF2-40B4-BE49-F238E27FC236}">
                <a16:creationId xmlns:a16="http://schemas.microsoft.com/office/drawing/2014/main" id="{326A9561-455C-496B-B8B7-858411AD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1143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3" name="s3-label-2">
            <a:extLst xmlns:a="http://schemas.openxmlformats.org/drawingml/2006/main">
              <a:ext uri="{FF2B5EF4-FFF2-40B4-BE49-F238E27FC236}">
                <a16:creationId xmlns:a16="http://schemas.microsoft.com/office/drawing/2014/main" id="{265AD06B-D1D9-4B9F-9C8D-93DF8098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1962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识别入口</a:t>
            </a:r>
          </a:p>
        </p:txBody>
      </p:sp>
      <p:sp>
        <p:nvSpPr>
          <p:cNvPr id="14" name="s3-body-2">
            <a:extLst xmlns:a="http://schemas.openxmlformats.org/drawingml/2006/main">
              <a:ext uri="{FF2B5EF4-FFF2-40B4-BE49-F238E27FC236}">
                <a16:creationId xmlns:a16="http://schemas.microsoft.com/office/drawing/2014/main" id="{AEA074C8-9DB2-48A9-901A-54989270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00475"/>
            <a:ext cx="196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OCR + LLM 结构化
Vision LLM 自由识别</a:t>
            </a:r>
          </a:p>
        </p:txBody>
      </p:sp>
      <p:sp>
        <p:nvSpPr>
          <p:cNvPr id="15" name="s3-card-3">
            <a:extLst xmlns:a="http://schemas.openxmlformats.org/drawingml/2006/main">
              <a:ext uri="{FF2B5EF4-FFF2-40B4-BE49-F238E27FC236}">
                <a16:creationId xmlns:a16="http://schemas.microsoft.com/office/drawing/2014/main" id="{C9F913AF-C672-4844-BE14-F4728C19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383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6" name="s3-num-3">
            <a:extLst xmlns:a="http://schemas.openxmlformats.org/drawingml/2006/main">
              <a:ext uri="{FF2B5EF4-FFF2-40B4-BE49-F238E27FC236}">
                <a16:creationId xmlns:a16="http://schemas.microsoft.com/office/drawing/2014/main" id="{AA412AFB-7199-40DE-AE39-A160559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09800"/>
            <a:ext cx="1143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7" name="s3-label-3">
            <a:extLst xmlns:a="http://schemas.openxmlformats.org/drawingml/2006/main">
              <a:ext uri="{FF2B5EF4-FFF2-40B4-BE49-F238E27FC236}">
                <a16:creationId xmlns:a16="http://schemas.microsoft.com/office/drawing/2014/main" id="{C4BB9433-D9FC-4F60-9FC5-1EFD2734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90875"/>
            <a:ext cx="1962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结果闭环</a:t>
            </a:r>
          </a:p>
        </p:txBody>
      </p:sp>
      <p:sp>
        <p:nvSpPr>
          <p:cNvPr id="18" name="s3-body-3">
            <a:extLst xmlns:a="http://schemas.openxmlformats.org/drawingml/2006/main">
              <a:ext uri="{FF2B5EF4-FFF2-40B4-BE49-F238E27FC236}">
                <a16:creationId xmlns:a16="http://schemas.microsoft.com/office/drawing/2014/main" id="{BF793E81-2480-4257-A236-4231B63C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800475"/>
            <a:ext cx="196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1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llm_result.json
包含解析结果与 timing</a:t>
            </a:r>
          </a:p>
        </p:txBody>
      </p:sp>
      <p:sp>
        <p:nvSpPr>
          <p:cNvPr id="19" name="s3-bottom-band">
            <a:extLst xmlns:a="http://schemas.openxmlformats.org/drawingml/2006/main">
              <a:ext uri="{FF2B5EF4-FFF2-40B4-BE49-F238E27FC236}">
                <a16:creationId xmlns:a16="http://schemas.microsoft.com/office/drawing/2014/main" id="{EDFEB5AB-2718-4E82-BD00-B93DBC3D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0" name="s3-bottom-text">
            <a:extLst xmlns:a="http://schemas.openxmlformats.org/drawingml/2006/main">
              <a:ext uri="{FF2B5EF4-FFF2-40B4-BE49-F238E27FC236}">
                <a16:creationId xmlns:a16="http://schemas.microsoft.com/office/drawing/2014/main" id="{F5578892-2891-451B-BAE6-6A220E8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33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18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对应代码：/api/recognize-structure-stream、/api/direct-vision-stream、前端 SSE 解析和运行指标面板。</a:t>
            </a:r>
          </a:p>
        </p:txBody>
      </p:sp>
      <p:sp>
        <p:nvSpPr>
          <p:cNvPr id="21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4689FD05-333D-4790-9DDD-28DD7E36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工作票识别项目阶段周报</a:t>
            </a:r>
          </a:p>
        </p:txBody>
      </p:sp>
      <p:sp>
        <p:nvSpPr>
          <p:cNvPr id="22" name="footer-no-3">
            <a:extLst xmlns:a="http://schemas.openxmlformats.org/drawingml/2006/main">
              <a:ext uri="{FF2B5EF4-FFF2-40B4-BE49-F238E27FC236}">
                <a16:creationId xmlns:a16="http://schemas.microsoft.com/office/drawing/2014/main" id="{5CA81B20-3748-4B0A-9B0D-1C923BF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5268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">
            <a:extLst xmlns:a="http://schemas.openxmlformats.org/drawingml/2006/main">
              <a:ext uri="{FF2B5EF4-FFF2-40B4-BE49-F238E27FC236}">
                <a16:creationId xmlns:a16="http://schemas.microsoft.com/office/drawing/2014/main" id="{9F4FC7EC-214A-4E05-85E6-C5E5457B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42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本期完成：前端识别台补齐</a:t>
            </a:r>
          </a:p>
        </p:txBody>
      </p:sp>
      <p:sp>
        <p:nvSpPr>
          <p:cNvPr id="2" name="s4-lead">
            <a:extLst xmlns:a="http://schemas.openxmlformats.org/drawingml/2006/main">
              <a:ext uri="{FF2B5EF4-FFF2-40B4-BE49-F238E27FC236}">
                <a16:creationId xmlns:a16="http://schemas.microsoft.com/office/drawing/2014/main" id="{E7AFD565-D7D3-4550-86F0-8E7200DA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47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前端从“提交文件看结果”扩展为可演示的工作台：模式切换、运行轨迹、指标面板和输出区同屏可见。</a:t>
            </a:r>
          </a:p>
        </p:txBody>
      </p:sp>
      <p:sp>
        <p:nvSpPr>
          <p:cNvPr id="3" name="s4-sidebar">
            <a:extLst xmlns:a="http://schemas.openxmlformats.org/drawingml/2006/main">
              <a:ext uri="{FF2B5EF4-FFF2-40B4-BE49-F238E27FC236}">
                <a16:creationId xmlns:a16="http://schemas.microsoft.com/office/drawing/2014/main" id="{B46B5689-FB87-4BAF-B554-F908FE1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29527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4" name="s4-brand">
            <a:extLst xmlns:a="http://schemas.openxmlformats.org/drawingml/2006/main">
              <a:ext uri="{FF2B5EF4-FFF2-40B4-BE49-F238E27FC236}">
                <a16:creationId xmlns:a16="http://schemas.microsoft.com/office/drawing/2014/main" id="{21F535B5-DB34-4F87-ABF8-E6810639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190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WT
工作票智能识别台</a:t>
            </a:r>
          </a:p>
        </p:txBody>
      </p:sp>
      <p:sp>
        <p:nvSpPr>
          <p:cNvPr id="5" name="s4-tab1">
            <a:extLst xmlns:a="http://schemas.openxmlformats.org/drawingml/2006/main">
              <a:ext uri="{FF2B5EF4-FFF2-40B4-BE49-F238E27FC236}">
                <a16:creationId xmlns:a16="http://schemas.microsoft.com/office/drawing/2014/main" id="{FCD893B5-B11E-43C8-B8FF-16BACB2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s4-tab2">
            <a:extLst xmlns:a="http://schemas.openxmlformats.org/drawingml/2006/main">
              <a:ext uri="{FF2B5EF4-FFF2-40B4-BE49-F238E27FC236}">
                <a16:creationId xmlns:a16="http://schemas.microsoft.com/office/drawing/2014/main" id="{0B026E73-206F-467D-A4C6-C3CA2728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004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9"/>
          </a:solidFill>
          <a:ln xmlns:a="http://schemas.openxmlformats.org/drawingml/2006/main" w="0">
            <a:solidFill>
              <a:srgbClr val="273549"/>
            </a:solidFill>
            <a:prstDash val="solid"/>
          </a:ln>
        </p:spPr>
      </p:sp>
      <p:sp>
        <p:nvSpPr>
          <p:cNvPr id="7" name="s4-tab1t">
            <a:extLst xmlns:a="http://schemas.openxmlformats.org/drawingml/2006/main">
              <a:ext uri="{FF2B5EF4-FFF2-40B4-BE49-F238E27FC236}">
                <a16:creationId xmlns:a16="http://schemas.microsoft.com/office/drawing/2014/main" id="{B358D800-AECE-4265-9E6B-4A3698F7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80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结构化</a:t>
            </a:r>
          </a:p>
        </p:txBody>
      </p:sp>
      <p:sp>
        <p:nvSpPr>
          <p:cNvPr id="8" name="s4-tab2t">
            <a:extLst xmlns:a="http://schemas.openxmlformats.org/drawingml/2006/main">
              <a:ext uri="{FF2B5EF4-FFF2-40B4-BE49-F238E27FC236}">
                <a16:creationId xmlns:a16="http://schemas.microsoft.com/office/drawing/2014/main" id="{2502A908-E726-4BE9-9D7E-2221BE20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67075"/>
            <a:ext cx="80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图片直传</a:t>
            </a:r>
          </a:p>
        </p:txBody>
      </p:sp>
      <p:sp>
        <p:nvSpPr>
          <p:cNvPr id="9" name="s4-drop">
            <a:extLst xmlns:a="http://schemas.openxmlformats.org/drawingml/2006/main">
              <a:ext uri="{FF2B5EF4-FFF2-40B4-BE49-F238E27FC236}">
                <a16:creationId xmlns:a16="http://schemas.microsoft.com/office/drawing/2014/main" id="{29D6D6F9-5FD9-46EF-8A8E-6E68B73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s4-dropt">
            <a:extLst xmlns:a="http://schemas.openxmlformats.org/drawingml/2006/main">
              <a:ext uri="{FF2B5EF4-FFF2-40B4-BE49-F238E27FC236}">
                <a16:creationId xmlns:a16="http://schemas.microsoft.com/office/drawing/2014/main" id="{855579B4-40D9-4DE0-8ABD-3F34EAE2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428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+
选择文件</a:t>
            </a:r>
          </a:p>
        </p:txBody>
      </p:sp>
      <p:sp>
        <p:nvSpPr>
          <p:cNvPr id="11" name="s4-runbtn">
            <a:extLst xmlns:a="http://schemas.openxmlformats.org/drawingml/2006/main">
              <a:ext uri="{FF2B5EF4-FFF2-40B4-BE49-F238E27FC236}">
                <a16:creationId xmlns:a16="http://schemas.microsoft.com/office/drawing/2014/main" id="{4371C633-10D1-4805-BF26-AAD28FF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s4-runbtnt">
            <a:extLst xmlns:a="http://schemas.openxmlformats.org/drawingml/2006/main">
              <a:ext uri="{FF2B5EF4-FFF2-40B4-BE49-F238E27FC236}">
                <a16:creationId xmlns:a16="http://schemas.microsoft.com/office/drawing/2014/main" id="{E20FCE53-0D5B-44A5-A443-7DD525F9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76825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开始识别</a:t>
            </a:r>
          </a:p>
        </p:txBody>
      </p:sp>
      <p:sp>
        <p:nvSpPr>
          <p:cNvPr id="13" name="s4-main">
            <a:extLst xmlns:a="http://schemas.openxmlformats.org/drawingml/2006/main">
              <a:ext uri="{FF2B5EF4-FFF2-40B4-BE49-F238E27FC236}">
                <a16:creationId xmlns:a16="http://schemas.microsoft.com/office/drawing/2014/main" id="{1DD35FCC-CA96-4A99-AB78-8D02E870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19300"/>
            <a:ext cx="8020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4-mainh">
            <a:extLst xmlns:a="http://schemas.openxmlformats.org/drawingml/2006/main">
              <a:ext uri="{FF2B5EF4-FFF2-40B4-BE49-F238E27FC236}">
                <a16:creationId xmlns:a16="http://schemas.microsoft.com/office/drawing/2014/main" id="{BBDA699D-868D-4FF3-B30C-A9FF9FD7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669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运行监控</a:t>
            </a:r>
          </a:p>
        </p:txBody>
      </p:sp>
      <p:sp>
        <p:nvSpPr>
          <p:cNvPr id="15" name="s4-metric-0">
            <a:extLst xmlns:a="http://schemas.openxmlformats.org/drawingml/2006/main">
              <a:ext uri="{FF2B5EF4-FFF2-40B4-BE49-F238E27FC236}">
                <a16:creationId xmlns:a16="http://schemas.microsoft.com/office/drawing/2014/main" id="{05351985-E201-410E-AD0A-D115994E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95600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4-metric-l-0">
            <a:extLst xmlns:a="http://schemas.openxmlformats.org/drawingml/2006/main">
              <a:ext uri="{FF2B5EF4-FFF2-40B4-BE49-F238E27FC236}">
                <a16:creationId xmlns:a16="http://schemas.microsoft.com/office/drawing/2014/main" id="{4429AAFD-7E06-4990-BE03-64EADB0D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文件接收</a:t>
            </a:r>
          </a:p>
        </p:txBody>
      </p:sp>
      <p:sp>
        <p:nvSpPr>
          <p:cNvPr id="17" name="s4-metric-v-0">
            <a:extLst xmlns:a="http://schemas.openxmlformats.org/drawingml/2006/main">
              <a:ext uri="{FF2B5EF4-FFF2-40B4-BE49-F238E27FC236}">
                <a16:creationId xmlns:a16="http://schemas.microsoft.com/office/drawing/2014/main" id="{B05462D2-9601-4053-BDE9-27BD3626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--</a:t>
            </a:r>
          </a:p>
        </p:txBody>
      </p:sp>
      <p:sp>
        <p:nvSpPr>
          <p:cNvPr id="18" name="s4-metric-1">
            <a:extLst xmlns:a="http://schemas.openxmlformats.org/drawingml/2006/main">
              <a:ext uri="{FF2B5EF4-FFF2-40B4-BE49-F238E27FC236}">
                <a16:creationId xmlns:a16="http://schemas.microsoft.com/office/drawing/2014/main" id="{5EBFBDF5-0064-4579-869C-C1F25CD6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95600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4-metric-l-1">
            <a:extLst xmlns:a="http://schemas.openxmlformats.org/drawingml/2006/main">
              <a:ext uri="{FF2B5EF4-FFF2-40B4-BE49-F238E27FC236}">
                <a16:creationId xmlns:a16="http://schemas.microsoft.com/office/drawing/2014/main" id="{C068B14A-FF1E-4174-951C-1BCA0CEC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99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OCR</a:t>
            </a:r>
          </a:p>
        </p:txBody>
      </p:sp>
      <p:sp>
        <p:nvSpPr>
          <p:cNvPr id="20" name="s4-metric-v-1">
            <a:extLst xmlns:a="http://schemas.openxmlformats.org/drawingml/2006/main">
              <a:ext uri="{FF2B5EF4-FFF2-40B4-BE49-F238E27FC236}">
                <a16:creationId xmlns:a16="http://schemas.microsoft.com/office/drawing/2014/main" id="{D08A0B9D-B361-4E26-884F-FC64E400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766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--</a:t>
            </a:r>
          </a:p>
        </p:txBody>
      </p:sp>
      <p:sp>
        <p:nvSpPr>
          <p:cNvPr id="21" name="s4-metric-2">
            <a:extLst xmlns:a="http://schemas.openxmlformats.org/drawingml/2006/main">
              <a:ext uri="{FF2B5EF4-FFF2-40B4-BE49-F238E27FC236}">
                <a16:creationId xmlns:a16="http://schemas.microsoft.com/office/drawing/2014/main" id="{C6425FA2-ECEE-4D2F-AB2E-9BB9022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4-metric-l-2">
            <a:extLst xmlns:a="http://schemas.openxmlformats.org/drawingml/2006/main">
              <a:ext uri="{FF2B5EF4-FFF2-40B4-BE49-F238E27FC236}">
                <a16:creationId xmlns:a16="http://schemas.microsoft.com/office/drawing/2014/main" id="{720BCF94-65A8-424E-8EF7-D1D436D0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99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首字返回</a:t>
            </a:r>
          </a:p>
        </p:txBody>
      </p:sp>
      <p:sp>
        <p:nvSpPr>
          <p:cNvPr id="23" name="s4-metric-v-2">
            <a:extLst xmlns:a="http://schemas.openxmlformats.org/drawingml/2006/main">
              <a:ext uri="{FF2B5EF4-FFF2-40B4-BE49-F238E27FC236}">
                <a16:creationId xmlns:a16="http://schemas.microsoft.com/office/drawing/2014/main" id="{37E74C20-EA81-456E-B5CC-73D3DC53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--</a:t>
            </a:r>
          </a:p>
        </p:txBody>
      </p:sp>
      <p:sp>
        <p:nvSpPr>
          <p:cNvPr id="24" name="s4-metric-3">
            <a:extLst xmlns:a="http://schemas.openxmlformats.org/drawingml/2006/main">
              <a:ext uri="{FF2B5EF4-FFF2-40B4-BE49-F238E27FC236}">
                <a16:creationId xmlns:a16="http://schemas.microsoft.com/office/drawing/2014/main" id="{E93F620B-097F-4B45-BBD6-A559DBF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4-metric-l-3">
            <a:extLst xmlns:a="http://schemas.openxmlformats.org/drawingml/2006/main">
              <a:ext uri="{FF2B5EF4-FFF2-40B4-BE49-F238E27FC236}">
                <a16:creationId xmlns:a16="http://schemas.microsoft.com/office/drawing/2014/main" id="{7E9D576B-B57C-4F9B-88CD-254E7138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模型生成</a:t>
            </a:r>
          </a:p>
        </p:txBody>
      </p:sp>
      <p:sp>
        <p:nvSpPr>
          <p:cNvPr id="26" name="s4-metric-v-3">
            <a:extLst xmlns:a="http://schemas.openxmlformats.org/drawingml/2006/main">
              <a:ext uri="{FF2B5EF4-FFF2-40B4-BE49-F238E27FC236}">
                <a16:creationId xmlns:a16="http://schemas.microsoft.com/office/drawing/2014/main" id="{910BF03E-5115-4D0C-9A58-E6BCA5B8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--</a:t>
            </a:r>
          </a:p>
        </p:txBody>
      </p:sp>
      <p:sp>
        <p:nvSpPr>
          <p:cNvPr id="27" name="s4-metric-4">
            <a:extLst xmlns:a="http://schemas.openxmlformats.org/drawingml/2006/main">
              <a:ext uri="{FF2B5EF4-FFF2-40B4-BE49-F238E27FC236}">
                <a16:creationId xmlns:a16="http://schemas.microsoft.com/office/drawing/2014/main" id="{29A0984E-501F-403F-96F7-83DBCE14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125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4-metric-l-4">
            <a:extLst xmlns:a="http://schemas.openxmlformats.org/drawingml/2006/main">
              <a:ext uri="{FF2B5EF4-FFF2-40B4-BE49-F238E27FC236}">
                <a16:creationId xmlns:a16="http://schemas.microsoft.com/office/drawing/2014/main" id="{7E13C4EB-C113-4DE5-8E75-18594DF6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099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总耗时</a:t>
            </a:r>
          </a:p>
        </p:txBody>
      </p:sp>
      <p:sp>
        <p:nvSpPr>
          <p:cNvPr id="29" name="s4-metric-v-4">
            <a:extLst xmlns:a="http://schemas.openxmlformats.org/drawingml/2006/main">
              <a:ext uri="{FF2B5EF4-FFF2-40B4-BE49-F238E27FC236}">
                <a16:creationId xmlns:a16="http://schemas.microsoft.com/office/drawing/2014/main" id="{28452E32-619F-423C-B42B-D4E31316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766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--</a:t>
            </a:r>
          </a:p>
        </p:txBody>
      </p:sp>
      <p:sp>
        <p:nvSpPr>
          <p:cNvPr id="30" name="s4-timeline">
            <a:extLst xmlns:a="http://schemas.openxmlformats.org/drawingml/2006/main">
              <a:ext uri="{FF2B5EF4-FFF2-40B4-BE49-F238E27FC236}">
                <a16:creationId xmlns:a16="http://schemas.microsoft.com/office/drawing/2014/main" id="{FD127BB2-A37F-4DA2-9525-22630ED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86200"/>
            <a:ext cx="3124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4-result">
            <a:extLst xmlns:a="http://schemas.openxmlformats.org/drawingml/2006/main">
              <a:ext uri="{FF2B5EF4-FFF2-40B4-BE49-F238E27FC236}">
                <a16:creationId xmlns:a16="http://schemas.microsoft.com/office/drawing/2014/main" id="{A50D5859-44FC-43F5-9393-0C6D9AC4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4038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2" name="s4-timeline-t">
            <a:extLst xmlns:a="http://schemas.openxmlformats.org/drawingml/2006/main">
              <a:ext uri="{FF2B5EF4-FFF2-40B4-BE49-F238E27FC236}">
                <a16:creationId xmlns:a16="http://schemas.microsoft.com/office/drawing/2014/main" id="{AAE3A49C-F0EB-4B79-808B-B1FD2A03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76700"/>
            <a:ext cx="2571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执行轨迹
上传完成 → OCR 完成 → 首字返回 → 生成完成</a:t>
            </a:r>
          </a:p>
        </p:txBody>
      </p:sp>
      <p:sp>
        <p:nvSpPr>
          <p:cNvPr id="33" name="s4-result-t">
            <a:extLst xmlns:a="http://schemas.openxmlformats.org/drawingml/2006/main">
              <a:ext uri="{FF2B5EF4-FFF2-40B4-BE49-F238E27FC236}">
                <a16:creationId xmlns:a16="http://schemas.microsoft.com/office/drawing/2014/main" id="{73BDE485-1515-4DF1-8ED4-63624E5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9E6F2"/>
                </a:solidFill>
                <a:latin typeface="Cascadia Mono"/>
                <a:ea typeface="Cascadia Mono"/>
                <a:cs typeface="Cascadia Mono"/>
              </a:defRPr>
            </a:pPr>
            <a:r>
              <a:t>{
  "parsed_json": {...},
  "timing": {...}
}</a:t>
            </a:r>
          </a:p>
        </p:txBody>
      </p:sp>
      <p:sp>
        <p:nvSpPr>
          <p:cNvPr id="3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558257B8-8B04-42A1-B222-05A15F2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工作票识别项目阶段周报</a:t>
            </a:r>
          </a:p>
        </p:txBody>
      </p:sp>
      <p:sp>
        <p:nvSpPr>
          <p:cNvPr id="35" name="footer-no-4">
            <a:extLst xmlns:a="http://schemas.openxmlformats.org/drawingml/2006/main">
              <a:ext uri="{FF2B5EF4-FFF2-40B4-BE49-F238E27FC236}">
                <a16:creationId xmlns:a16="http://schemas.microsoft.com/office/drawing/2014/main" id="{FA9FD827-4AD4-42D7-A92A-BF4F2183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48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">
            <a:extLst xmlns:a="http://schemas.openxmlformats.org/drawingml/2006/main">
              <a:ext uri="{FF2B5EF4-FFF2-40B4-BE49-F238E27FC236}">
                <a16:creationId xmlns:a16="http://schemas.microsoft.com/office/drawing/2014/main" id="{0CE38327-0D85-4D3B-9AFB-FE726DA6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本期完成：工程化补充</a:t>
            </a:r>
          </a:p>
        </p:txBody>
      </p:sp>
      <p:sp>
        <p:nvSpPr>
          <p:cNvPr id="2" name="s5-lead">
            <a:extLst xmlns:a="http://schemas.openxmlformats.org/drawingml/2006/main">
              <a:ext uri="{FF2B5EF4-FFF2-40B4-BE49-F238E27FC236}">
                <a16:creationId xmlns:a16="http://schemas.microsoft.com/office/drawing/2014/main" id="{F08FEDAB-F1A1-4D18-8BED-847E5FB2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933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围绕“能启动、能配置、能调试、能复现输出”补齐项目支撑件。</a:t>
            </a:r>
          </a:p>
        </p:txBody>
      </p:sp>
      <p:sp>
        <p:nvSpPr>
          <p:cNvPr id="3" name="s5-box-0">
            <a:extLst xmlns:a="http://schemas.openxmlformats.org/drawingml/2006/main">
              <a:ext uri="{FF2B5EF4-FFF2-40B4-BE49-F238E27FC236}">
                <a16:creationId xmlns:a16="http://schemas.microsoft.com/office/drawing/2014/main" id="{38CDC334-744E-4EDF-842F-6A303FCA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521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5-icon-0">
            <a:extLst xmlns:a="http://schemas.openxmlformats.org/drawingml/2006/main">
              <a:ext uri="{FF2B5EF4-FFF2-40B4-BE49-F238E27FC236}">
                <a16:creationId xmlns:a16="http://schemas.microsoft.com/office/drawing/2014/main" id="{0D51EF8E-2976-4984-8630-315978D4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s5-h-0">
            <a:extLst xmlns:a="http://schemas.openxmlformats.org/drawingml/2006/main">
              <a:ext uri="{FF2B5EF4-FFF2-40B4-BE49-F238E27FC236}">
                <a16:creationId xmlns:a16="http://schemas.microsoft.com/office/drawing/2014/main" id="{DE0576D7-9168-43A9-B384-502B4284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配置分层</a:t>
            </a:r>
          </a:p>
        </p:txBody>
      </p:sp>
      <p:sp>
        <p:nvSpPr>
          <p:cNvPr id="6" name="s5-b-0">
            <a:extLst xmlns:a="http://schemas.openxmlformats.org/drawingml/2006/main">
              <a:ext uri="{FF2B5EF4-FFF2-40B4-BE49-F238E27FC236}">
                <a16:creationId xmlns:a16="http://schemas.microsoft.com/office/drawing/2014/main" id="{9C8C0A85-A9D4-4DE0-A115-9F62DD03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2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.env.example 区分 LLM、Vision、Server；Vision 可独立配置，也可回退到 LLM。</a:t>
            </a:r>
          </a:p>
        </p:txBody>
      </p:sp>
      <p:sp>
        <p:nvSpPr>
          <p:cNvPr id="7" name="s5-box-1">
            <a:extLst xmlns:a="http://schemas.openxmlformats.org/drawingml/2006/main">
              <a:ext uri="{FF2B5EF4-FFF2-40B4-BE49-F238E27FC236}">
                <a16:creationId xmlns:a16="http://schemas.microsoft.com/office/drawing/2014/main" id="{453373EA-C2F2-4028-8203-9BD4B1EB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521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5-icon-1">
            <a:extLst xmlns:a="http://schemas.openxmlformats.org/drawingml/2006/main">
              <a:ext uri="{FF2B5EF4-FFF2-40B4-BE49-F238E27FC236}">
                <a16:creationId xmlns:a16="http://schemas.microsoft.com/office/drawing/2014/main" id="{363AEC9C-E449-4FF0-98A0-2BB0EE9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s5-h-1">
            <a:extLst xmlns:a="http://schemas.openxmlformats.org/drawingml/2006/main">
              <a:ext uri="{FF2B5EF4-FFF2-40B4-BE49-F238E27FC236}">
                <a16:creationId xmlns:a16="http://schemas.microsoft.com/office/drawing/2014/main" id="{6E33A78F-A049-4FFB-8466-ACCD80E1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0505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启动脚本</a:t>
            </a:r>
          </a:p>
        </p:txBody>
      </p:sp>
      <p:sp>
        <p:nvSpPr>
          <p:cNvPr id="10" name="s5-b-1">
            <a:extLst xmlns:a="http://schemas.openxmlformats.org/drawingml/2006/main">
              <a:ext uri="{FF2B5EF4-FFF2-40B4-BE49-F238E27FC236}">
                <a16:creationId xmlns:a16="http://schemas.microsoft.com/office/drawing/2014/main" id="{0FC996B7-A8FC-497F-A1A9-5FD74943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start.ps1 设置 UTF-8 环境并用 uvicorn reload 启动，降低 Windows 运行成本。</a:t>
            </a:r>
          </a:p>
        </p:txBody>
      </p:sp>
      <p:sp>
        <p:nvSpPr>
          <p:cNvPr id="11" name="s5-box-2">
            <a:extLst xmlns:a="http://schemas.openxmlformats.org/drawingml/2006/main">
              <a:ext uri="{FF2B5EF4-FFF2-40B4-BE49-F238E27FC236}">
                <a16:creationId xmlns:a16="http://schemas.microsoft.com/office/drawing/2014/main" id="{2C26ED8C-86B8-464A-94E1-8CF0B275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21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5-icon-2">
            <a:extLst xmlns:a="http://schemas.openxmlformats.org/drawingml/2006/main">
              <a:ext uri="{FF2B5EF4-FFF2-40B4-BE49-F238E27FC236}">
                <a16:creationId xmlns:a16="http://schemas.microsoft.com/office/drawing/2014/main" id="{90093E14-BA20-4A3B-935E-25EB58EB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s5-h-2">
            <a:extLst xmlns:a="http://schemas.openxmlformats.org/drawingml/2006/main">
              <a:ext uri="{FF2B5EF4-FFF2-40B4-BE49-F238E27FC236}">
                <a16:creationId xmlns:a16="http://schemas.microsoft.com/office/drawing/2014/main" id="{8CBD06FB-0378-44EF-8CC3-E5454417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输出组织</a:t>
            </a:r>
          </a:p>
        </p:txBody>
      </p:sp>
      <p:sp>
        <p:nvSpPr>
          <p:cNvPr id="14" name="s5-b-2">
            <a:extLst xmlns:a="http://schemas.openxmlformats.org/drawingml/2006/main">
              <a:ext uri="{FF2B5EF4-FFF2-40B4-BE49-F238E27FC236}">
                <a16:creationId xmlns:a16="http://schemas.microsoft.com/office/drawing/2014/main" id="{8A925E14-FCE9-453F-B86A-474B0026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95850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7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上传文件、PPStructure JSON/Markdown/visual、llm_result.json 统一落到 storage。</a:t>
            </a:r>
          </a:p>
        </p:txBody>
      </p:sp>
      <p:sp>
        <p:nvSpPr>
          <p:cNvPr id="15" name="s5-box-3">
            <a:extLst xmlns:a="http://schemas.openxmlformats.org/drawingml/2006/main">
              <a:ext uri="{FF2B5EF4-FFF2-40B4-BE49-F238E27FC236}">
                <a16:creationId xmlns:a16="http://schemas.microsoft.com/office/drawing/2014/main" id="{E3440F88-F685-4591-BF53-AD665C6F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21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5-icon-3">
            <a:extLst xmlns:a="http://schemas.openxmlformats.org/drawingml/2006/main">
              <a:ext uri="{FF2B5EF4-FFF2-40B4-BE49-F238E27FC236}">
                <a16:creationId xmlns:a16="http://schemas.microsoft.com/office/drawing/2014/main" id="{4B33A15E-E008-439D-982E-BD3EDFF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s5-h-3">
            <a:extLst xmlns:a="http://schemas.openxmlformats.org/drawingml/2006/main">
              <a:ext uri="{FF2B5EF4-FFF2-40B4-BE49-F238E27FC236}">
                <a16:creationId xmlns:a16="http://schemas.microsoft.com/office/drawing/2014/main" id="{0FA8E970-85DC-45DE-8D80-A65DE5F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调试与健康检查</a:t>
            </a:r>
          </a:p>
        </p:txBody>
      </p:sp>
      <p:sp>
        <p:nvSpPr>
          <p:cNvPr id="18" name="s5-b-3">
            <a:extLst xmlns:a="http://schemas.openxmlformats.org/drawingml/2006/main">
              <a:ext uri="{FF2B5EF4-FFF2-40B4-BE49-F238E27FC236}">
                <a16:creationId xmlns:a16="http://schemas.microsoft.com/office/drawing/2014/main" id="{3C058645-8E46-4F92-92B2-CF02C35B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95850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9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/api/health 暴露配置状态；test_api_debug.py 检查 base_url 与 key 是否有效。</a:t>
            </a:r>
          </a:p>
        </p:txBody>
      </p:sp>
      <p:sp>
        <p:nvSpPr>
          <p:cNvPr id="1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A04F70AD-359B-42E0-80CE-7744CB35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工作票识别项目阶段周报</a:t>
            </a:r>
          </a:p>
        </p:txBody>
      </p:sp>
      <p:sp>
        <p:nvSpPr>
          <p:cNvPr id="20" name="footer-no-5">
            <a:extLst xmlns:a="http://schemas.openxmlformats.org/drawingml/2006/main">
              <a:ext uri="{FF2B5EF4-FFF2-40B4-BE49-F238E27FC236}">
                <a16:creationId xmlns:a16="http://schemas.microsoft.com/office/drawing/2014/main" id="{FE0C3E88-CAD4-4577-871F-EFA0A52B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3713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">
            <a:extLst xmlns:a="http://schemas.openxmlformats.org/drawingml/2006/main">
              <a:ext uri="{FF2B5EF4-FFF2-40B4-BE49-F238E27FC236}">
                <a16:creationId xmlns:a16="http://schemas.microsoft.com/office/drawing/2014/main" id="{B6D3F8C5-5874-4F3A-A490-8716B6E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14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当前系统形态：可演示、可观测、可追溯</a:t>
            </a:r>
          </a:p>
        </p:txBody>
      </p:sp>
      <p:sp>
        <p:nvSpPr>
          <p:cNvPr id="2" name="s6-lead">
            <a:extLst xmlns:a="http://schemas.openxmlformats.org/drawingml/2006/main">
              <a:ext uri="{FF2B5EF4-FFF2-40B4-BE49-F238E27FC236}">
                <a16:creationId xmlns:a16="http://schemas.microsoft.com/office/drawing/2014/main" id="{3E2762AE-7A38-4C79-8CE2-30A29E75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9525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识别主链路是前期基础；本期把它接入流式进度、前端运行监控和结果持久化。</a:t>
            </a:r>
          </a:p>
        </p:txBody>
      </p:sp>
      <p:sp>
        <p:nvSpPr>
          <p:cNvPr id="3" name="s6-node-0">
            <a:extLst xmlns:a="http://schemas.openxmlformats.org/drawingml/2006/main">
              <a:ext uri="{FF2B5EF4-FFF2-40B4-BE49-F238E27FC236}">
                <a16:creationId xmlns:a16="http://schemas.microsoft.com/office/drawing/2014/main" id="{BDC9FDCB-78E7-4317-B6C7-1B50D5AC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1676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6-node-h-0">
            <a:extLst xmlns:a="http://schemas.openxmlformats.org/drawingml/2006/main">
              <a:ext uri="{FF2B5EF4-FFF2-40B4-BE49-F238E27FC236}">
                <a16:creationId xmlns:a16="http://schemas.microsoft.com/office/drawing/2014/main" id="{FEC73B5D-8319-412C-84A3-E9C4EAA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上传文件</a:t>
            </a:r>
          </a:p>
        </p:txBody>
      </p:sp>
      <p:sp>
        <p:nvSpPr>
          <p:cNvPr id="5" name="s6-node-b-0">
            <a:extLst xmlns:a="http://schemas.openxmlformats.org/drawingml/2006/main">
              <a:ext uri="{FF2B5EF4-FFF2-40B4-BE49-F238E27FC236}">
                <a16:creationId xmlns:a16="http://schemas.microsoft.com/office/drawing/2014/main" id="{2135FD6D-0564-4007-91D0-F069C1A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图片 / PDF</a:t>
            </a:r>
          </a:p>
        </p:txBody>
      </p:sp>
      <p:sp>
        <p:nvSpPr>
          <p:cNvPr id="6" name="s6-arrow-0">
            <a:extLst xmlns:a="http://schemas.openxmlformats.org/drawingml/2006/main">
              <a:ext uri="{FF2B5EF4-FFF2-40B4-BE49-F238E27FC236}">
                <a16:creationId xmlns:a16="http://schemas.microsoft.com/office/drawing/2014/main" id="{9661860B-F94B-45A5-87B8-1C3ED05A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00350"/>
            <a:ext cx="323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50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s6-node-1">
            <a:extLst xmlns:a="http://schemas.openxmlformats.org/drawingml/2006/main">
              <a:ext uri="{FF2B5EF4-FFF2-40B4-BE49-F238E27FC236}">
                <a16:creationId xmlns:a16="http://schemas.microsoft.com/office/drawing/2014/main" id="{B0D347D8-09FF-4B09-AFDA-54154ED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57450"/>
            <a:ext cx="1676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6-node-h-1">
            <a:extLst xmlns:a="http://schemas.openxmlformats.org/drawingml/2006/main">
              <a:ext uri="{FF2B5EF4-FFF2-40B4-BE49-F238E27FC236}">
                <a16:creationId xmlns:a16="http://schemas.microsoft.com/office/drawing/2014/main" id="{2D2101DF-7A4A-4A59-ACB3-0A7682F9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FastAPI</a:t>
            </a:r>
          </a:p>
        </p:txBody>
      </p:sp>
      <p:sp>
        <p:nvSpPr>
          <p:cNvPr id="9" name="s6-node-b-1">
            <a:extLst xmlns:a="http://schemas.openxmlformats.org/drawingml/2006/main">
              <a:ext uri="{FF2B5EF4-FFF2-40B4-BE49-F238E27FC236}">
                <a16:creationId xmlns:a16="http://schemas.microsoft.com/office/drawing/2014/main" id="{A1EC4107-D577-4AA7-8833-A56E665A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接收请求
生成 SSE</a:t>
            </a:r>
          </a:p>
        </p:txBody>
      </p:sp>
      <p:sp>
        <p:nvSpPr>
          <p:cNvPr id="10" name="s6-arrow-1">
            <a:extLst xmlns:a="http://schemas.openxmlformats.org/drawingml/2006/main">
              <a:ext uri="{FF2B5EF4-FFF2-40B4-BE49-F238E27FC236}">
                <a16:creationId xmlns:a16="http://schemas.microsoft.com/office/drawing/2014/main" id="{14E79227-179D-4126-95C2-2385C133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323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50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s6-node-2">
            <a:extLst xmlns:a="http://schemas.openxmlformats.org/drawingml/2006/main">
              <a:ext uri="{FF2B5EF4-FFF2-40B4-BE49-F238E27FC236}">
                <a16:creationId xmlns:a16="http://schemas.microsoft.com/office/drawing/2014/main" id="{166811B3-C762-4690-B107-9BE8C0D9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676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s6-node-h-2">
            <a:extLst xmlns:a="http://schemas.openxmlformats.org/drawingml/2006/main">
              <a:ext uri="{FF2B5EF4-FFF2-40B4-BE49-F238E27FC236}">
                <a16:creationId xmlns:a16="http://schemas.microsoft.com/office/drawing/2014/main" id="{80BE7392-A78D-4DCE-99F0-993D936B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识别基础</a:t>
            </a:r>
          </a:p>
        </p:txBody>
      </p:sp>
      <p:sp>
        <p:nvSpPr>
          <p:cNvPr id="13" name="s6-node-b-2">
            <a:extLst xmlns:a="http://schemas.openxmlformats.org/drawingml/2006/main">
              <a:ext uri="{FF2B5EF4-FFF2-40B4-BE49-F238E27FC236}">
                <a16:creationId xmlns:a16="http://schemas.microsoft.com/office/drawing/2014/main" id="{7ABFC22A-8CF3-47F0-B398-4E997B59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PPStructureV3
或 Vision LLM</a:t>
            </a:r>
          </a:p>
        </p:txBody>
      </p:sp>
      <p:sp>
        <p:nvSpPr>
          <p:cNvPr id="14" name="s6-arrow-2">
            <a:extLst xmlns:a="http://schemas.openxmlformats.org/drawingml/2006/main">
              <a:ext uri="{FF2B5EF4-FFF2-40B4-BE49-F238E27FC236}">
                <a16:creationId xmlns:a16="http://schemas.microsoft.com/office/drawing/2014/main" id="{1E9DE166-BC4C-4901-8CAA-D524D2E3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323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50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5" name="s6-node-3">
            <a:extLst xmlns:a="http://schemas.openxmlformats.org/drawingml/2006/main">
              <a:ext uri="{FF2B5EF4-FFF2-40B4-BE49-F238E27FC236}">
                <a16:creationId xmlns:a16="http://schemas.microsoft.com/office/drawing/2014/main" id="{1571EBDB-1F4B-4990-BF86-81A4EBC2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1676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6-node-h-3">
            <a:extLst xmlns:a="http://schemas.openxmlformats.org/drawingml/2006/main">
              <a:ext uri="{FF2B5EF4-FFF2-40B4-BE49-F238E27FC236}">
                <a16:creationId xmlns:a16="http://schemas.microsoft.com/office/drawing/2014/main" id="{A848E6FE-4BB5-4504-82D0-E9FBB649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86050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LLM 输出</a:t>
            </a:r>
          </a:p>
        </p:txBody>
      </p:sp>
      <p:sp>
        <p:nvSpPr>
          <p:cNvPr id="17" name="s6-node-b-3">
            <a:extLst xmlns:a="http://schemas.openxmlformats.org/drawingml/2006/main">
              <a:ext uri="{FF2B5EF4-FFF2-40B4-BE49-F238E27FC236}">
                <a16:creationId xmlns:a16="http://schemas.microsoft.com/office/drawing/2014/main" id="{3CE70EF2-1249-4D39-A46D-AAF56BF6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JSON / 原文</a:t>
            </a:r>
          </a:p>
        </p:txBody>
      </p:sp>
      <p:sp>
        <p:nvSpPr>
          <p:cNvPr id="18" name="s6-arrow-3">
            <a:extLst xmlns:a="http://schemas.openxmlformats.org/drawingml/2006/main">
              <a:ext uri="{FF2B5EF4-FFF2-40B4-BE49-F238E27FC236}">
                <a16:creationId xmlns:a16="http://schemas.microsoft.com/office/drawing/2014/main" id="{C70782F3-3341-428A-9B93-0A56B9C7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323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50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9" name="s6-node-4">
            <a:extLst xmlns:a="http://schemas.openxmlformats.org/drawingml/2006/main">
              <a:ext uri="{FF2B5EF4-FFF2-40B4-BE49-F238E27FC236}">
                <a16:creationId xmlns:a16="http://schemas.microsoft.com/office/drawing/2014/main" id="{281B6951-93B1-4A11-B32E-B0AD6C7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676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6-node-h-4">
            <a:extLst xmlns:a="http://schemas.openxmlformats.org/drawingml/2006/main">
              <a:ext uri="{FF2B5EF4-FFF2-40B4-BE49-F238E27FC236}">
                <a16:creationId xmlns:a16="http://schemas.microsoft.com/office/drawing/2014/main" id="{A7A029D6-B7A1-4288-B148-8B62C91B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133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前端展示</a:t>
            </a:r>
          </a:p>
        </p:txBody>
      </p:sp>
      <p:sp>
        <p:nvSpPr>
          <p:cNvPr id="21" name="s6-node-b-4">
            <a:extLst xmlns:a="http://schemas.openxmlformats.org/drawingml/2006/main">
              <a:ext uri="{FF2B5EF4-FFF2-40B4-BE49-F238E27FC236}">
                <a16:creationId xmlns:a16="http://schemas.microsoft.com/office/drawing/2014/main" id="{3497FE43-E07C-4261-9414-B5B81254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轨迹 / 指标
结果复制</a:t>
            </a:r>
          </a:p>
        </p:txBody>
      </p:sp>
      <p:sp>
        <p:nvSpPr>
          <p:cNvPr id="22" name="s6-artifact-band">
            <a:extLst xmlns:a="http://schemas.openxmlformats.org/drawingml/2006/main">
              <a:ext uri="{FF2B5EF4-FFF2-40B4-BE49-F238E27FC236}">
                <a16:creationId xmlns:a16="http://schemas.microsoft.com/office/drawing/2014/main" id="{55CA9E73-F0AC-4763-927F-CB3B572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6-artifact-h">
            <a:extLst xmlns:a="http://schemas.openxmlformats.org/drawingml/2006/main">
              <a:ext uri="{FF2B5EF4-FFF2-40B4-BE49-F238E27FC236}">
                <a16:creationId xmlns:a16="http://schemas.microsoft.com/office/drawing/2014/main" id="{79BF8D07-DBAD-43B0-A2FC-3CBBB419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可追溯输出</a:t>
            </a:r>
          </a:p>
        </p:txBody>
      </p:sp>
      <p:sp>
        <p:nvSpPr>
          <p:cNvPr id="24" name="s6-artifact-b">
            <a:extLst xmlns:a="http://schemas.openxmlformats.org/drawingml/2006/main">
              <a:ext uri="{FF2B5EF4-FFF2-40B4-BE49-F238E27FC236}">
                <a16:creationId xmlns:a16="http://schemas.microsoft.com/office/drawing/2014/main" id="{8C1EA5E2-21B5-406B-A799-BADCB72A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3392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storage/uploads 保存原始文件；storage/outputs/ticket_xxxxxxxx 保存 PPStructure JSON、Markdown、visual 和 llm_result.json。</a:t>
            </a:r>
          </a:p>
        </p:txBody>
      </p:sp>
      <p:sp>
        <p:nvSpPr>
          <p:cNvPr id="25" name="s6-note">
            <a:extLst xmlns:a="http://schemas.openxmlformats.org/drawingml/2006/main">
              <a:ext uri="{FF2B5EF4-FFF2-40B4-BE49-F238E27FC236}">
                <a16:creationId xmlns:a16="http://schemas.microsoft.com/office/drawing/2014/main" id="{C4AAA835-279C-4CD5-9BD7-4AB080C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本页用于说明项目当前形态，不把 OCR + LLM 识别算法本身计入本期工作。</a:t>
            </a:r>
          </a:p>
        </p:txBody>
      </p:sp>
      <p:sp>
        <p:nvSpPr>
          <p:cNvPr id="26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CA76C499-E439-4A2A-911D-B5C2D9D1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工作票识别项目阶段周报</a:t>
            </a:r>
          </a:p>
        </p:txBody>
      </p:sp>
      <p:sp>
        <p:nvSpPr>
          <p:cNvPr id="27" name="footer-no-6">
            <a:extLst xmlns:a="http://schemas.openxmlformats.org/drawingml/2006/main">
              <a:ext uri="{FF2B5EF4-FFF2-40B4-BE49-F238E27FC236}">
                <a16:creationId xmlns:a16="http://schemas.microsoft.com/office/drawing/2014/main" id="{C272B22E-28AC-4627-A85E-B3CC9B18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9592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title">
            <a:extLst xmlns:a="http://schemas.openxmlformats.org/drawingml/2006/main">
              <a:ext uri="{FF2B5EF4-FFF2-40B4-BE49-F238E27FC236}">
                <a16:creationId xmlns:a16="http://schemas.microsoft.com/office/drawing/2014/main" id="{5BABACA2-F957-45DF-A3CF-7C0B2B7F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接下来两周：开始工作票识别论文</a:t>
            </a:r>
          </a:p>
        </p:txBody>
      </p:sp>
      <p:sp>
        <p:nvSpPr>
          <p:cNvPr id="2" name="s7-lead">
            <a:extLst xmlns:a="http://schemas.openxmlformats.org/drawingml/2006/main">
              <a:ext uri="{FF2B5EF4-FFF2-40B4-BE49-F238E27FC236}">
                <a16:creationId xmlns:a16="http://schemas.microsoft.com/office/drawing/2014/main" id="{65AC5933-323B-40D2-AF23-74E9FC6E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论文方向先从“问题定义 + 系统方法 + 实验设计”立起来，再把项目代码转化为图、表和实验材料。</a:t>
            </a:r>
          </a:p>
        </p:txBody>
      </p:sp>
      <p:sp>
        <p:nvSpPr>
          <p:cNvPr id="3" name="s7-row-0">
            <a:extLst xmlns:a="http://schemas.openxmlformats.org/drawingml/2006/main">
              <a:ext uri="{FF2B5EF4-FFF2-40B4-BE49-F238E27FC236}">
                <a16:creationId xmlns:a16="http://schemas.microsoft.com/office/drawing/2014/main" id="{50A9DEF4-9AE5-4454-81CD-A5DED8D7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7-rh-0">
            <a:extLst xmlns:a="http://schemas.openxmlformats.org/drawingml/2006/main">
              <a:ext uri="{FF2B5EF4-FFF2-40B4-BE49-F238E27FC236}">
                <a16:creationId xmlns:a16="http://schemas.microsoft.com/office/drawing/2014/main" id="{52989225-EFFD-43CC-B321-1F22A7D3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研究问题</a:t>
            </a:r>
          </a:p>
        </p:txBody>
      </p:sp>
      <p:sp>
        <p:nvSpPr>
          <p:cNvPr id="5" name="s7-rb-0">
            <a:extLst xmlns:a="http://schemas.openxmlformats.org/drawingml/2006/main">
              <a:ext uri="{FF2B5EF4-FFF2-40B4-BE49-F238E27FC236}">
                <a16:creationId xmlns:a16="http://schemas.microsoft.com/office/drawing/2014/main" id="{2B261FCC-FE43-4CD5-A234-D6F23C9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66925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复杂版面工作票的字段、表格与签名信息如何可靠结构化。</a:t>
            </a:r>
          </a:p>
        </p:txBody>
      </p:sp>
      <p:sp>
        <p:nvSpPr>
          <p:cNvPr id="6" name="s7-row-1">
            <a:extLst xmlns:a="http://schemas.openxmlformats.org/drawingml/2006/main">
              <a:ext uri="{FF2B5EF4-FFF2-40B4-BE49-F238E27FC236}">
                <a16:creationId xmlns:a16="http://schemas.microsoft.com/office/drawing/2014/main" id="{D9DACE7F-5969-4793-B2CC-311258B6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7-rh-1">
            <a:extLst xmlns:a="http://schemas.openxmlformats.org/drawingml/2006/main">
              <a:ext uri="{FF2B5EF4-FFF2-40B4-BE49-F238E27FC236}">
                <a16:creationId xmlns:a16="http://schemas.microsoft.com/office/drawing/2014/main" id="{0990D111-30B3-402E-B3BF-EBFBF82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相关工作</a:t>
            </a:r>
          </a:p>
        </p:txBody>
      </p:sp>
      <p:sp>
        <p:nvSpPr>
          <p:cNvPr id="8" name="s7-rb-1">
            <a:extLst xmlns:a="http://schemas.openxmlformats.org/drawingml/2006/main">
              <a:ext uri="{FF2B5EF4-FFF2-40B4-BE49-F238E27FC236}">
                <a16:creationId xmlns:a16="http://schemas.microsoft.com/office/drawing/2014/main" id="{942A4A70-99C1-4E0B-9973-31CFC8D3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71775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OCR / 版面分析 / 文档信息抽取 / 多模态大模型。</a:t>
            </a:r>
          </a:p>
        </p:txBody>
      </p:sp>
      <p:sp>
        <p:nvSpPr>
          <p:cNvPr id="9" name="s7-row-2">
            <a:extLst xmlns:a="http://schemas.openxmlformats.org/drawingml/2006/main">
              <a:ext uri="{FF2B5EF4-FFF2-40B4-BE49-F238E27FC236}">
                <a16:creationId xmlns:a16="http://schemas.microsoft.com/office/drawing/2014/main" id="{5BD1230D-F132-4F4E-BF94-56365B8B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7-rh-2">
            <a:extLst xmlns:a="http://schemas.openxmlformats.org/drawingml/2006/main">
              <a:ext uri="{FF2B5EF4-FFF2-40B4-BE49-F238E27FC236}">
                <a16:creationId xmlns:a16="http://schemas.microsoft.com/office/drawing/2014/main" id="{8A901471-3A9A-495B-B9A5-D641C77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数据与标注</a:t>
            </a:r>
          </a:p>
        </p:txBody>
      </p:sp>
      <p:sp>
        <p:nvSpPr>
          <p:cNvPr id="11" name="s7-rb-2">
            <a:extLst xmlns:a="http://schemas.openxmlformats.org/drawingml/2006/main">
              <a:ext uri="{FF2B5EF4-FFF2-40B4-BE49-F238E27FC236}">
                <a16:creationId xmlns:a16="http://schemas.microsoft.com/office/drawing/2014/main" id="{A321BFCF-7763-4EEC-B7C4-524875BB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整理样本、字段 schema、表格保真、uncertain_fields 规则。</a:t>
            </a:r>
          </a:p>
        </p:txBody>
      </p:sp>
      <p:sp>
        <p:nvSpPr>
          <p:cNvPr id="12" name="s7-row-3">
            <a:extLst xmlns:a="http://schemas.openxmlformats.org/drawingml/2006/main">
              <a:ext uri="{FF2B5EF4-FFF2-40B4-BE49-F238E27FC236}">
                <a16:creationId xmlns:a16="http://schemas.microsoft.com/office/drawing/2014/main" id="{D7B9326B-FDB5-4847-87A7-B13F9DCB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7-rh-3">
            <a:extLst xmlns:a="http://schemas.openxmlformats.org/drawingml/2006/main">
              <a:ext uri="{FF2B5EF4-FFF2-40B4-BE49-F238E27FC236}">
                <a16:creationId xmlns:a16="http://schemas.microsoft.com/office/drawing/2014/main" id="{349A06D4-F1C4-44AB-BF04-DBEC0B69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实验设计</a:t>
            </a:r>
          </a:p>
        </p:txBody>
      </p:sp>
      <p:sp>
        <p:nvSpPr>
          <p:cNvPr id="14" name="s7-rb-3">
            <a:extLst xmlns:a="http://schemas.openxmlformats.org/drawingml/2006/main">
              <a:ext uri="{FF2B5EF4-FFF2-40B4-BE49-F238E27FC236}">
                <a16:creationId xmlns:a16="http://schemas.microsoft.com/office/drawing/2014/main" id="{F14EA024-F499-415D-877F-C2DB73B5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81475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PPStructure + LLM、图片直传 Vision、规则/模板基线对比。</a:t>
            </a:r>
          </a:p>
        </p:txBody>
      </p:sp>
      <p:sp>
        <p:nvSpPr>
          <p:cNvPr id="15" name="s7-row-4">
            <a:extLst xmlns:a="http://schemas.openxmlformats.org/drawingml/2006/main">
              <a:ext uri="{FF2B5EF4-FFF2-40B4-BE49-F238E27FC236}">
                <a16:creationId xmlns:a16="http://schemas.microsoft.com/office/drawing/2014/main" id="{8A654174-7A0E-4DA2-8B39-9F8EDEEC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7-rh-4">
            <a:extLst xmlns:a="http://schemas.openxmlformats.org/drawingml/2006/main">
              <a:ext uri="{FF2B5EF4-FFF2-40B4-BE49-F238E27FC236}">
                <a16:creationId xmlns:a16="http://schemas.microsoft.com/office/drawing/2014/main" id="{777626AE-ADBD-46F6-9722-105E62D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评价指标</a:t>
            </a:r>
          </a:p>
        </p:txBody>
      </p:sp>
      <p:sp>
        <p:nvSpPr>
          <p:cNvPr id="17" name="s7-rb-4">
            <a:extLst xmlns:a="http://schemas.openxmlformats.org/drawingml/2006/main">
              <a:ext uri="{FF2B5EF4-FFF2-40B4-BE49-F238E27FC236}">
                <a16:creationId xmlns:a16="http://schemas.microsoft.com/office/drawing/2014/main" id="{440AA0C4-60AA-49A7-A804-987E4BE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字段准确率、JSON 合法率、表格覆盖、延迟、错误类型。</a:t>
            </a:r>
          </a:p>
        </p:txBody>
      </p:sp>
      <p:sp>
        <p:nvSpPr>
          <p:cNvPr id="18" name="s7-topic">
            <a:extLst xmlns:a="http://schemas.openxmlformats.org/drawingml/2006/main">
              <a:ext uri="{FF2B5EF4-FFF2-40B4-BE49-F238E27FC236}">
                <a16:creationId xmlns:a16="http://schemas.microsoft.com/office/drawing/2014/main" id="{2E4408AC-ACC9-4787-8BDE-5C74A12F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990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t>题目候选：基于版面分析与大语言模型的工作票结构化识别方法研究</a:t>
            </a:r>
          </a:p>
        </p:txBody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4A04854-0E0B-427C-984B-A15667B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工作票识别项目阶段周报</a:t>
            </a:r>
          </a:p>
        </p:txBody>
      </p:sp>
      <p:sp>
        <p:nvSpPr>
          <p:cNvPr id="20" name="footer-no-7">
            <a:extLst xmlns:a="http://schemas.openxmlformats.org/drawingml/2006/main">
              <a:ext uri="{FF2B5EF4-FFF2-40B4-BE49-F238E27FC236}">
                <a16:creationId xmlns:a16="http://schemas.microsoft.com/office/drawing/2014/main" id="{50BF0731-0C8F-4EEB-A6A3-AE603A19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9418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title">
            <a:extLst xmlns:a="http://schemas.openxmlformats.org/drawingml/2006/main">
              <a:ext uri="{FF2B5EF4-FFF2-40B4-BE49-F238E27FC236}">
                <a16:creationId xmlns:a16="http://schemas.microsoft.com/office/drawing/2014/main" id="{481EF115-0441-43A3-9E24-379B9FC2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下两周排期与预期产出</a:t>
            </a:r>
          </a:p>
        </p:txBody>
      </p:sp>
      <p:sp>
        <p:nvSpPr>
          <p:cNvPr id="2" name="s8-lead">
            <a:extLst xmlns:a="http://schemas.openxmlformats.org/drawingml/2006/main">
              <a:ext uri="{FF2B5EF4-FFF2-40B4-BE49-F238E27FC236}">
                <a16:creationId xmlns:a16="http://schemas.microsoft.com/office/drawing/2014/main" id="{9D698EAB-32CE-4845-B662-3BB9F2CA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942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目标不是立刻写完整论文，而是把论文骨架、综述材料和实验方案先固定下来。</a:t>
            </a:r>
          </a:p>
        </p:txBody>
      </p:sp>
      <p:sp>
        <p:nvSpPr>
          <p:cNvPr id="3" name="s8-marker-0">
            <a:extLst xmlns:a="http://schemas.openxmlformats.org/drawingml/2006/main">
              <a:ext uri="{FF2B5EF4-FFF2-40B4-BE49-F238E27FC236}">
                <a16:creationId xmlns:a16="http://schemas.microsoft.com/office/drawing/2014/main" id="{711B4FAD-80D8-4773-860D-B7A86ECC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8-h-0">
            <a:extLst xmlns:a="http://schemas.openxmlformats.org/drawingml/2006/main">
              <a:ext uri="{FF2B5EF4-FFF2-40B4-BE49-F238E27FC236}">
                <a16:creationId xmlns:a16="http://schemas.microsoft.com/office/drawing/2014/main" id="{F53C856B-2553-4FF8-BD12-2ED9140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 周</a:t>
            </a:r>
          </a:p>
        </p:txBody>
      </p:sp>
      <p:sp>
        <p:nvSpPr>
          <p:cNvPr id="5" name="s8-b-0">
            <a:extLst xmlns:a="http://schemas.openxmlformats.org/drawingml/2006/main">
              <a:ext uri="{FF2B5EF4-FFF2-40B4-BE49-F238E27FC236}">
                <a16:creationId xmlns:a16="http://schemas.microsoft.com/office/drawing/2014/main" id="{92F41D24-977D-4C2A-AD61-29B32F74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3238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确定论文题目与摘要草稿
完成论文大纲和章节分工
建立相关工作阅读表
定义数据字段和标注规范</a:t>
            </a:r>
          </a:p>
        </p:txBody>
      </p:sp>
      <p:sp>
        <p:nvSpPr>
          <p:cNvPr id="6" name="s8-marker-1">
            <a:extLst xmlns:a="http://schemas.openxmlformats.org/drawingml/2006/main">
              <a:ext uri="{FF2B5EF4-FFF2-40B4-BE49-F238E27FC236}">
                <a16:creationId xmlns:a16="http://schemas.microsoft.com/office/drawing/2014/main" id="{2DC52B9F-67B7-47C7-B7B3-3326A4C3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s8-h-1">
            <a:extLst xmlns:a="http://schemas.openxmlformats.org/drawingml/2006/main">
              <a:ext uri="{FF2B5EF4-FFF2-40B4-BE49-F238E27FC236}">
                <a16:creationId xmlns:a16="http://schemas.microsoft.com/office/drawing/2014/main" id="{95A0228B-7415-4188-8A35-3EFFA398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005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第 2 周</a:t>
            </a:r>
          </a:p>
        </p:txBody>
      </p:sp>
      <p:sp>
        <p:nvSpPr>
          <p:cNvPr id="8" name="s8-b-1">
            <a:extLst xmlns:a="http://schemas.openxmlformats.org/drawingml/2006/main">
              <a:ext uri="{FF2B5EF4-FFF2-40B4-BE49-F238E27FC236}">
                <a16:creationId xmlns:a16="http://schemas.microsoft.com/office/drawing/2014/main" id="{28E51437-0796-4CBC-BCE5-59E6E261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14850"/>
            <a:ext cx="3238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绘制系统架构与流程图
设计对比实验和评价指标
补跑必要样例并记录误差
开始撰写引言、方法和实验设置</a:t>
            </a:r>
          </a:p>
        </p:txBody>
      </p:sp>
      <p:sp>
        <p:nvSpPr>
          <p:cNvPr id="9" name="s8-marker-2">
            <a:extLst xmlns:a="http://schemas.openxmlformats.org/drawingml/2006/main">
              <a:ext uri="{FF2B5EF4-FFF2-40B4-BE49-F238E27FC236}">
                <a16:creationId xmlns:a16="http://schemas.microsoft.com/office/drawing/2014/main" id="{C56A14C4-CC6B-4DE4-A6C6-C7000E67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s8-h-2">
            <a:extLst xmlns:a="http://schemas.openxmlformats.org/drawingml/2006/main">
              <a:ext uri="{FF2B5EF4-FFF2-40B4-BE49-F238E27FC236}">
                <a16:creationId xmlns:a16="http://schemas.microsoft.com/office/drawing/2014/main" id="{083AFB7C-FD96-4D23-A890-B089557D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阶段产出</a:t>
            </a:r>
          </a:p>
        </p:txBody>
      </p:sp>
      <p:sp>
        <p:nvSpPr>
          <p:cNvPr id="11" name="s8-b-2">
            <a:extLst xmlns:a="http://schemas.openxmlformats.org/drawingml/2006/main">
              <a:ext uri="{FF2B5EF4-FFF2-40B4-BE49-F238E27FC236}">
                <a16:creationId xmlns:a16="http://schemas.microsoft.com/office/drawing/2014/main" id="{8D2A8689-B78A-4DF1-A02F-A2FAC281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3238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论文提纲 v1
相关工作表格
实验设计清单
系统图与误差案例
导师沟通问题列表</a:t>
            </a:r>
          </a:p>
        </p:txBody>
      </p:sp>
      <p:sp>
        <p:nvSpPr>
          <p:cNvPr id="12" name="s8-band">
            <a:extLst xmlns:a="http://schemas.openxmlformats.org/drawingml/2006/main">
              <a:ext uri="{FF2B5EF4-FFF2-40B4-BE49-F238E27FC236}">
                <a16:creationId xmlns:a16="http://schemas.microsoft.com/office/drawing/2014/main" id="{FABBFEA2-C23A-4243-B4E1-0CE8BF7D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s8-close">
            <a:extLst xmlns:a="http://schemas.openxmlformats.org/drawingml/2006/main">
              <a:ext uri="{FF2B5EF4-FFF2-40B4-BE49-F238E27FC236}">
                <a16:creationId xmlns:a16="http://schemas.microsoft.com/office/drawing/2014/main" id="{FAD8C9DF-0A78-46AA-848A-D57D6AE6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71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t>汇报落点：本期项目已具备论文材料雏形；下期开始把工程实现转化为研究叙事和实验论证。</a:t>
            </a:r>
          </a:p>
        </p:txBody>
      </p:sp>
      <p:sp>
        <p:nvSpPr>
          <p:cNvPr id="14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743D4CF-D80E-421D-9D1C-BBCB6D98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工作票识别项目阶段周报</a:t>
            </a:r>
          </a:p>
        </p:txBody>
      </p:sp>
      <p:sp>
        <p:nvSpPr>
          <p:cNvPr id="15" name="footer-no-8">
            <a:extLst xmlns:a="http://schemas.openxmlformats.org/drawingml/2006/main">
              <a:ext uri="{FF2B5EF4-FFF2-40B4-BE49-F238E27FC236}">
                <a16:creationId xmlns:a16="http://schemas.microsoft.com/office/drawing/2014/main" id="{99C2EF0C-D1EC-4C20-9F8B-FDFF99DB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6706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2026-06-26T08:50:41.2320000Z</dcterms:created>
  <dcterms:modified xsi:type="dcterms:W3CDTF">2026-06-26T08:50:41.2320000Z</dcterms:modified>
</coreProperties>
</file>